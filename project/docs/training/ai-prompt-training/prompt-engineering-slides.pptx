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提示词工程教程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课程大纲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一、什么是提示词（Prompt）</a:t>
            </a:r>
          </a:p>
          <a:p>
            <a:pPr>
              <a:spcAft>
                <a:spcPts val="1000"/>
              </a:spcAft>
              <a:defRPr sz="2000"/>
            </a:pPr>
            <a:r>
              <a:t>• 二、设计 Prompt：构建清晰明确的提示</a:t>
            </a:r>
          </a:p>
          <a:p>
            <a:pPr>
              <a:spcAft>
                <a:spcPts val="1000"/>
              </a:spcAft>
              <a:defRPr sz="2000"/>
            </a:pPr>
            <a:r>
              <a:t>• 三、使用 Prompt 框架</a:t>
            </a:r>
          </a:p>
          <a:p>
            <a:pPr>
              <a:spcAft>
                <a:spcPts val="1000"/>
              </a:spcAft>
              <a:defRPr sz="2000"/>
            </a:pPr>
            <a:r>
              <a:t>• 四、优化 Prompt 的四个技巧</a:t>
            </a:r>
          </a:p>
          <a:p>
            <a:pPr>
              <a:spcAft>
                <a:spcPts val="1000"/>
              </a:spcAft>
              <a:defRPr sz="2000"/>
            </a:pPr>
            <a:r>
              <a:t>• 五、Prompt 测试与迭代</a:t>
            </a:r>
          </a:p>
          <a:p>
            <a:pPr>
              <a:spcAft>
                <a:spcPts val="1000"/>
              </a:spcAft>
              <a:defRPr sz="2000"/>
            </a:pPr>
            <a:r>
              <a:t>• 六、优化案例分享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一、什么是提示词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Prompt 基础概念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提示词（Prompt）的定义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提示词是您输入给大模型（LLM）的文本信息</a:t>
            </a:r>
          </a:p>
          <a:p>
            <a:pPr>
              <a:spcAft>
                <a:spcPts val="1000"/>
              </a:spcAft>
              <a:defRPr sz="2000"/>
            </a:pPr>
            <a:r>
              <a:t>• 用于明确地告诉模型您想要解决的问题或完成的任务</a:t>
            </a:r>
          </a:p>
          <a:p>
            <a:pPr>
              <a:spcAft>
                <a:spcPts val="1000"/>
              </a:spcAft>
              <a:defRPr sz="2000"/>
            </a:pPr>
            <a:r>
              <a:t>• 是大语言模型理解用户需求并生成相关、准确回答或内容的基础</a:t>
            </a:r>
          </a:p>
          <a:p>
            <a:pPr>
              <a:spcAft>
                <a:spcPts val="1000"/>
              </a:spcAft>
              <a:defRPr sz="2000"/>
            </a:pPr>
            <a:r>
              <a:t>• 提示词质量直接影响模型输出效果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二、设计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构建清晰明确的提示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构建清晰明确的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想象：给同事指派任务时，只说一句话，效果很难达到预期</a:t>
            </a:r>
          </a:p>
          <a:p>
            <a:pPr>
              <a:spcAft>
                <a:spcPts val="1000"/>
              </a:spcAft>
              <a:defRPr sz="2000"/>
            </a:pPr>
            <a:r>
              <a:t>• 如果提供：明确的目的、建议的思考方向、执行策略</a:t>
            </a:r>
          </a:p>
          <a:p>
            <a:pPr>
              <a:spcAft>
                <a:spcPts val="1000"/>
              </a:spcAft>
              <a:defRPr sz="2000"/>
            </a:pPr>
            <a:r>
              <a:t>• 结果：更有可能以高标准完成任务</a:t>
            </a:r>
          </a:p>
          <a:p>
            <a:pPr>
              <a:spcAft>
                <a:spcPts val="1000"/>
              </a:spcAft>
              <a:defRPr sz="2000"/>
            </a:pPr>
            <a:r>
              <a:t>• 同理：任务描述（Prompt）越清晰、具体、没有歧义</a:t>
            </a:r>
          </a:p>
          <a:p>
            <a:pPr>
              <a:spcAft>
                <a:spcPts val="1000"/>
              </a:spcAft>
              <a:defRPr sz="2000"/>
            </a:pPr>
            <a:r>
              <a:t>• LLM 的表现越能符合您的期望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模糊 vs 清晰的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0000"/>
                </a:solidFill>
              </a:defRPr>
            </a:pPr>
            <a:r>
              <a:t>模糊的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我想推广公司的新产品。我的公司名为阿里云百炼，新产品名为 Zephyr Z9，是一款轻薄便携的手机。帮我创建一条微博帖子。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00"/>
                </a:solidFill>
              </a:defRPr>
            </a:pPr>
            <a:r>
              <a:t>清晰具体的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请为我司阿里云百炼最新推出的Zephyr Z9轻薄便携手机设计一条吸引眼球的微博推广帖。</a:t>
            </a:r>
            <a:br/>
            <a:br/>
            <a:r>
              <a:t>内容需彰显Zephyr Z9的独特卖点，如极致轻薄设计、高性能配置及用户便利性，同时融入创意元素以提升观众兴趣和互动意愿。</a:t>
            </a:r>
            <a:br/>
            <a:br/>
            <a:r>
              <a:t>记得提及阿里云百炼品牌声誉，激发受众好奇心，引导他们探索更多产品信息或直接进行购买。</a:t>
            </a:r>
            <a:br/>
            <a:br/>
            <a:r>
              <a:t>贴文应简洁有力，符合微博平台的风格与字数限制，适宜社交媒体传播。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三、使用 Prompt 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系统化地向 LLM 提供信息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Prompt 框架的六大要素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背景：介绍与任务紧密相关的背景信息</a:t>
            </a:r>
          </a:p>
          <a:p>
            <a:pPr>
              <a:spcAft>
                <a:spcPts val="1000"/>
              </a:spcAft>
              <a:defRPr sz="2000"/>
            </a:pPr>
            <a:r>
              <a:t>• 目的：明确指出您期望LLM完成的具体任务</a:t>
            </a:r>
          </a:p>
          <a:p>
            <a:pPr>
              <a:spcAft>
                <a:spcPts val="1000"/>
              </a:spcAft>
              <a:defRPr sz="2000"/>
            </a:pPr>
            <a:r>
              <a:t>• 风格：指定您希望LLM输出的写作风格</a:t>
            </a:r>
          </a:p>
          <a:p>
            <a:pPr>
              <a:spcAft>
                <a:spcPts val="1000"/>
              </a:spcAft>
              <a:defRPr sz="2000"/>
            </a:pPr>
            <a:r>
              <a:t>• 语气：定义输出内容应有的语气（正式、诙谐、温馨等）</a:t>
            </a:r>
          </a:p>
          <a:p>
            <a:pPr>
              <a:spcAft>
                <a:spcPts val="1000"/>
              </a:spcAft>
              <a:defRPr sz="2000"/>
            </a:pPr>
            <a:r>
              <a:t>• 受众：明确指出内容面向的读者群体</a:t>
            </a:r>
          </a:p>
          <a:p>
            <a:pPr>
              <a:spcAft>
                <a:spcPts val="1000"/>
              </a:spcAft>
              <a:defRPr sz="2000"/>
            </a:pPr>
            <a:r>
              <a:t>• 输出：规定输出内容的具体形式（列表、JSON、报告等）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未使用 vs 使用 Prompt 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0000"/>
                </a:solidFill>
              </a:defRPr>
            </a:pPr>
            <a:r>
              <a:t>未使用框架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我想推广公司的新产品。我的公司名为阿里云百炼，新产品名为 Zephyr Z9，是一款轻薄便携的手机。帮我创建一条微博帖子，简洁而深具影响力。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00"/>
                </a:solidFill>
              </a:defRPr>
            </a:pPr>
            <a:r>
              <a:t>使用 Prompt 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#背景# 我想为公司的新产品做广告。我公司的名字叫阿里云百炼，产品叫阿里云百炼 Zephyr Z9，是一款轻薄便携的手机。</a:t>
            </a:r>
            <a:br/>
            <a:br/>
            <a:r>
              <a:t>#目的# 为我创建一个微博帖子（限制：500字），旨在让人们有兴趣点击产品链接购买。</a:t>
            </a:r>
            <a:br/>
            <a:br/>
            <a:r>
              <a:t>#风格# 遵循黑米等成功公司为类似产品做广告的写作风格。</a:t>
            </a:r>
            <a:br/>
            <a:br/>
            <a:r>
              <a:t>#语气# 有说服力</a:t>
            </a:r>
            <a:br/>
            <a:br/>
            <a:r>
              <a:t>#受众# 我公司在微博上的受众通常是年轻一辈人。</a:t>
            </a:r>
            <a:br/>
            <a:br/>
            <a:r>
              <a:t>#输出# 微博上的帖子，简洁而有影响力。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使用框架的优势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框架提醒您考虑需求的各个方面</a:t>
            </a:r>
          </a:p>
          <a:p>
            <a:pPr>
              <a:spcAft>
                <a:spcPts val="1000"/>
              </a:spcAft>
              <a:defRPr sz="2000"/>
            </a:pPr>
            <a:r>
              <a:t>• 特别是普通Prompt中缺少的：风格、语气、受众</a:t>
            </a:r>
          </a:p>
          <a:p>
            <a:pPr>
              <a:spcAft>
                <a:spcPts val="1000"/>
              </a:spcAft>
              <a:defRPr sz="2000"/>
            </a:pPr>
            <a:r>
              <a:t>• 帮助LLM生成更针对目标群体的内容</a:t>
            </a:r>
          </a:p>
          <a:p>
            <a:pPr>
              <a:spcAft>
                <a:spcPts val="1000"/>
              </a:spcAft>
              <a:defRPr sz="2000"/>
            </a:pPr>
            <a:r>
              <a:t>• 细节更多，语言表达更加富有张力</a:t>
            </a:r>
          </a:p>
          <a:p>
            <a:pPr>
              <a:spcAft>
                <a:spcPts val="1000"/>
              </a:spcAft>
              <a:defRPr sz="2000"/>
            </a:pPr>
            <a:r>
              <a:t>• 可根据任务需求灵活增减结构组成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四、优化 Prompt 的四个技巧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提升模型表现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技巧一：为模型提供输出样例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在Prompt中提供您期望的输出示例</a:t>
            </a:r>
          </a:p>
          <a:p>
            <a:pPr>
              <a:spcAft>
                <a:spcPts val="1000"/>
              </a:spcAft>
              <a:defRPr sz="2000"/>
            </a:pPr>
            <a:r>
              <a:t>• 让LLM模仿所要求的规范、格式、概念、文法、语气</a:t>
            </a:r>
          </a:p>
          <a:p>
            <a:pPr>
              <a:spcAft>
                <a:spcPts val="1000"/>
              </a:spcAft>
              <a:defRPr sz="2000"/>
            </a:pPr>
            <a:r>
              <a:t>• 提供样例可以让大模型多次输出的结果更一致</a:t>
            </a:r>
          </a:p>
          <a:p>
            <a:pPr>
              <a:spcAft>
                <a:spcPts val="1000"/>
              </a:spcAft>
              <a:defRPr sz="2000"/>
            </a:pPr>
            <a:r>
              <a:t>• 从而稳定模型表现</a:t>
            </a:r>
          </a:p>
          <a:p>
            <a:pPr>
              <a:spcAft>
                <a:spcPts val="1000"/>
              </a:spcAft>
              <a:defRPr sz="2000"/>
            </a:pPr>
            <a:r>
              <a:t>• 特别适用于：格式要求严格、风格统一、批量生成场景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75B6"/>
                </a:solidFill>
              </a:defRPr>
            </a:pPr>
            <a:r>
              <a:t>技巧一示例：小红书种草笔记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59536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#背景#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你很擅长编写小红书种草笔记，喜欢增加丰富的emoji元素。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#目的#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请生成一篇小红书种草笔记，推广强森吹风机。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吹风机的优点是：体积小、高颜值、风力大、干得快、智能控温不伤发。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#受众#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喜欢追求时尚的年轻人，尤其是年轻女性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#输出#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小红书文章格式，充满emoji元素，简洁但内容充实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#语气与风格#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我亲测过+n种好物+谁适合谁受益 这个秘诀让你的话语超有信服力！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难题出没+揭秘原因+终极解药 这公式助你条理清晰地分享！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独到见解+深度剖析+巧妙推荐 这公式帮你自然流露心声！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亲身经历+成果展示 这公式让你的情感表达鲜活又感人！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技巧二：设定完成任务的步骤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对于许多复杂任务，提醒LLM如何完成任务非常必要</a:t>
            </a:r>
          </a:p>
          <a:p>
            <a:pPr>
              <a:spcAft>
                <a:spcPts val="1000"/>
              </a:spcAft>
              <a:defRPr sz="2000"/>
            </a:pPr>
            <a:r>
              <a:t>• 通过添加任务步骤，引导模型按步骤执行</a:t>
            </a:r>
          </a:p>
          <a:p>
            <a:pPr>
              <a:spcAft>
                <a:spcPts val="1000"/>
              </a:spcAft>
              <a:defRPr sz="2000"/>
            </a:pPr>
            <a:r>
              <a:t>• 特别适用于：数学题、逻辑推理、多步骤任务</a:t>
            </a:r>
          </a:p>
          <a:p>
            <a:pPr>
              <a:spcAft>
                <a:spcPts val="1000"/>
              </a:spcAft>
              <a:defRPr sz="2000"/>
            </a:pPr>
            <a:r>
              <a:t>• 帮助模型清晰地从提示词中获取任务步骤</a:t>
            </a:r>
          </a:p>
          <a:p>
            <a:pPr>
              <a:spcAft>
                <a:spcPts val="1000"/>
              </a:spcAft>
              <a:defRPr sz="2000"/>
            </a:pPr>
            <a:r>
              <a:t>• 基于规定的步骤生成正确结果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75B6"/>
                </a:solidFill>
              </a:defRPr>
            </a:pPr>
            <a:r>
              <a:t>技巧二示例：数学题求解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59536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#背景#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小明于早上八点整步行出发，每分钟行走50米，走了12分钟后，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小明的父亲发现小明忘记带作业了，于是便骑车去追小明，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已知小明的爸爸每分钟骑行200米，等到追上小明后，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爸爸决定骑车带上小明，小明坐自行车的路程是走路路程的5倍。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#目的#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小明什么时候到爷爷家？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#任务步骤#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1. 先计算小明被爸爸追上时的时间和移动的距离。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2. 再计算小明去爷爷家剩余的距离和需要的时间。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3. 最后计算小明到爷爷家的时间。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技巧三：使用分隔符号区分单元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在构建复杂的Prompt时，采用特定分隔符界定不同内容单元</a:t>
            </a:r>
          </a:p>
          <a:p>
            <a:pPr>
              <a:spcAft>
                <a:spcPts val="1000"/>
              </a:spcAft>
              <a:defRPr sz="2000"/>
            </a:pPr>
            <a:r>
              <a:t>• 显著增强LLM对Prompt正确解析的能力</a:t>
            </a:r>
          </a:p>
          <a:p>
            <a:pPr>
              <a:spcAft>
                <a:spcPts val="1000"/>
              </a:spcAft>
              <a:defRPr sz="2000"/>
            </a:pPr>
            <a:r>
              <a:t>• 任务复杂度越高，分隔符的作用越明显</a:t>
            </a:r>
          </a:p>
          <a:p>
            <a:pPr>
              <a:spcAft>
                <a:spcPts val="1000"/>
              </a:spcAft>
              <a:defRPr sz="2000"/>
            </a:pPr>
            <a:r>
              <a:t>• 推荐分隔符：###、===、&gt;&gt;&gt; 等罕见字符组合</a:t>
            </a:r>
          </a:p>
          <a:p>
            <a:pPr>
              <a:spcAft>
                <a:spcPts val="1000"/>
              </a:spcAft>
              <a:defRPr sz="2000"/>
            </a:pPr>
            <a:r>
              <a:t>• 关键：辨识度高，确保模型明确区分界限标识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技巧三示例：影评总结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0000"/>
                </a:solidFill>
              </a:defRPr>
            </a:pPr>
            <a:r>
              <a:t>未使用分隔符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请简短总结以下影评。</a:t>
            </a:r>
            <a:br/>
            <a:br/>
            <a:r>
              <a:t>曾经意气风发的张志强在生活的重压下，中年失速偏离了原本的生活轨迹，一时意气用事的决定，让他瞬间从家人的小骄傲变成了社会的边角料。然而，他未曾料到，这仅是他中年人生道路上的起点...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00"/>
                </a:solidFill>
              </a:defRPr>
            </a:pPr>
            <a:r>
              <a:t>使用分隔符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请简短总结以下影评。</a:t>
            </a:r>
            <a:br/>
            <a:br/>
            <a:r>
              <a:t>###</a:t>
            </a:r>
            <a:br/>
            <a:r>
              <a:t>曾经意气风发的张志强在生活的重压下，中年失速偏离了原本的生活轨迹...</a:t>
            </a:r>
            <a:br/>
            <a:r>
              <a:t>###</a:t>
            </a:r>
            <a:br/>
            <a:r>
              <a:t>然而，他未曾料到，这仅是他中年人生道路上的起点...</a:t>
            </a:r>
            <a:br/>
            <a:r>
              <a:t>###</a:t>
            </a:r>
            <a:br/>
            <a:r>
              <a:t>在共度的时光里他深切的体会到了人间的冷暖真情...</a:t>
            </a:r>
            <a:br/>
            <a:r>
              <a:t>###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使用分隔符的效果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LLM理解了三段话的逻辑关系</a:t>
            </a:r>
          </a:p>
          <a:p>
            <a:pPr>
              <a:spcAft>
                <a:spcPts val="1000"/>
              </a:spcAft>
              <a:defRPr sz="2000"/>
            </a:pPr>
            <a:r>
              <a:t>• 正确识别了分隔符</a:t>
            </a:r>
          </a:p>
          <a:p>
            <a:pPr>
              <a:spcAft>
                <a:spcPts val="1000"/>
              </a:spcAft>
              <a:defRPr sz="2000"/>
            </a:pPr>
            <a:r>
              <a:t>• 根据分隔符的段落生成了三段强相关的总结</a:t>
            </a:r>
          </a:p>
          <a:p>
            <a:pPr>
              <a:spcAft>
                <a:spcPts val="1000"/>
              </a:spcAft>
              <a:defRPr sz="2000"/>
            </a:pPr>
            <a:r>
              <a:t>• 输出更加结构化、条理清晰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技巧四：引导模型思考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对于逻辑推理和语境学习的复杂任务</a:t>
            </a:r>
          </a:p>
          <a:p>
            <a:pPr>
              <a:spcAft>
                <a:spcPts val="1000"/>
              </a:spcAft>
              <a:defRPr sz="2000"/>
            </a:pPr>
            <a:r>
              <a:t>• 简单技巧可能无法满足需求</a:t>
            </a:r>
          </a:p>
          <a:p>
            <a:pPr>
              <a:spcAft>
                <a:spcPts val="1000"/>
              </a:spcAft>
              <a:defRPr sz="2000"/>
            </a:pPr>
            <a:r>
              <a:t>• 引导模型生成推理过程或帮助模型拆解复杂任务</a:t>
            </a:r>
          </a:p>
          <a:p>
            <a:pPr>
              <a:spcAft>
                <a:spcPts val="1000"/>
              </a:spcAft>
              <a:defRPr sz="2000"/>
            </a:pPr>
            <a:r>
              <a:t>• 让模型在生成推理结果前生成更多的推理依据</a:t>
            </a:r>
          </a:p>
          <a:p>
            <a:pPr>
              <a:spcAft>
                <a:spcPts val="1000"/>
              </a:spcAft>
              <a:defRPr sz="2000"/>
            </a:pPr>
            <a:r>
              <a:t>• 从而提升模型在复杂问题上的表现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思维链（Chain of Thought，COT）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一种使用起来较为简单的引导方法</a:t>
            </a:r>
          </a:p>
          <a:p>
            <a:pPr>
              <a:spcAft>
                <a:spcPts val="1000"/>
              </a:spcAft>
              <a:defRPr sz="2000"/>
            </a:pPr>
            <a:r>
              <a:t>• 能够显著提高大模型在复杂场景下的推理能力</a:t>
            </a:r>
          </a:p>
          <a:p>
            <a:pPr>
              <a:spcAft>
                <a:spcPts val="1000"/>
              </a:spcAft>
              <a:defRPr sz="2000"/>
            </a:pPr>
            <a:r>
              <a:t>• 核心：让模型先输出思考过程，再输出结论</a:t>
            </a:r>
          </a:p>
          <a:p>
            <a:pPr>
              <a:spcAft>
                <a:spcPts val="1000"/>
              </a:spcAft>
              <a:defRPr sz="2000"/>
            </a:pPr>
            <a:r>
              <a:t>• 示例：先输出针对各要求的思考判断过程，再输出最终结论</a:t>
            </a:r>
          </a:p>
          <a:p>
            <a:pPr>
              <a:spcAft>
                <a:spcPts val="1000"/>
              </a:spcAft>
              <a:defRPr sz="2000"/>
            </a:pPr>
            <a:r>
              <a:t>• 适用于：JSON解析、逻辑判断、复杂推理等场景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提示链（Prompt Chaining）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通过多轮对话，引导LLM思考方向</a:t>
            </a:r>
          </a:p>
          <a:p>
            <a:pPr>
              <a:spcAft>
                <a:spcPts val="1000"/>
              </a:spcAft>
              <a:defRPr sz="2000"/>
            </a:pPr>
            <a:r>
              <a:t>• 让LLM从简单任务开始</a:t>
            </a:r>
          </a:p>
          <a:p>
            <a:pPr>
              <a:spcAft>
                <a:spcPts val="1000"/>
              </a:spcAft>
              <a:defRPr sz="2000"/>
            </a:pPr>
            <a:r>
              <a:t>• 沿着设计好的思考方向逐步完成复杂推理</a:t>
            </a:r>
          </a:p>
          <a:p>
            <a:pPr>
              <a:spcAft>
                <a:spcPts val="1000"/>
              </a:spcAft>
              <a:defRPr sz="2000"/>
            </a:pPr>
            <a:r>
              <a:t>• 构建模式更复杂，但模型表现更好，准确率更高</a:t>
            </a:r>
          </a:p>
          <a:p>
            <a:pPr>
              <a:spcAft>
                <a:spcPts val="1000"/>
              </a:spcAft>
              <a:defRPr sz="2000"/>
            </a:pPr>
            <a:r>
              <a:t>• 非常适合逻辑复杂但能按固定模式拆解的困难任务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其他引导思考的方法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思维树（Tree of Thoughts, ToT）</a:t>
            </a:r>
          </a:p>
          <a:p>
            <a:pPr>
              <a:spcAft>
                <a:spcPts val="1000"/>
              </a:spcAft>
              <a:defRPr sz="2000"/>
            </a:pPr>
            <a:r>
              <a:t>• Boosting of Thoughts</a:t>
            </a:r>
          </a:p>
          <a:p>
            <a:pPr>
              <a:spcAft>
                <a:spcPts val="1000"/>
              </a:spcAft>
              <a:defRPr sz="2000"/>
            </a:pPr>
            <a:r>
              <a:t>• 根据任务特点选择合适的方法</a:t>
            </a:r>
          </a:p>
          <a:p>
            <a:pPr>
              <a:spcAft>
                <a:spcPts val="1000"/>
              </a:spcAft>
              <a:defRPr sz="2000"/>
            </a:pPr>
            <a:r>
              <a:t>• 复杂任务可组合使用多种方法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五、Prompt 测试与迭代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持续优化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Prompt 优化流程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1. 设计初始 Prompt</a:t>
            </a:r>
          </a:p>
          <a:p>
            <a:pPr>
              <a:spcAft>
                <a:spcPts val="1000"/>
              </a:spcAft>
              <a:defRPr sz="2000"/>
            </a:pPr>
            <a:r>
              <a:t>• 2. 测试模型输出</a:t>
            </a:r>
          </a:p>
          <a:p>
            <a:pPr>
              <a:spcAft>
                <a:spcPts val="1000"/>
              </a:spcAft>
              <a:defRPr sz="2000"/>
            </a:pPr>
            <a:r>
              <a:t>• 3. 分析输出问题</a:t>
            </a:r>
          </a:p>
          <a:p>
            <a:pPr>
              <a:spcAft>
                <a:spcPts val="1000"/>
              </a:spcAft>
              <a:defRPr sz="2000"/>
            </a:pPr>
            <a:r>
              <a:t>• 4. 调整优化 Prompt</a:t>
            </a:r>
          </a:p>
          <a:p>
            <a:pPr>
              <a:spcAft>
                <a:spcPts val="1000"/>
              </a:spcAft>
              <a:defRPr sz="2000"/>
            </a:pPr>
            <a:r>
              <a:t>• 5. 重复测试直到满意</a:t>
            </a:r>
          </a:p>
          <a:p>
            <a:pPr>
              <a:spcAft>
                <a:spcPts val="1000"/>
              </a:spcAft>
              <a:defRPr sz="2000"/>
            </a:pPr>
            <a:r>
              <a:t>• 6. 线上环境持续收集反馈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持续优化的重要性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生成最优 Prompt 是高度实验性的过程</a:t>
            </a:r>
          </a:p>
          <a:p>
            <a:pPr>
              <a:spcAft>
                <a:spcPts val="1000"/>
              </a:spcAft>
              <a:defRPr sz="2000"/>
            </a:pPr>
            <a:r>
              <a:t>• 需要不断尝试和调整各种方法</a:t>
            </a:r>
          </a:p>
          <a:p>
            <a:pPr>
              <a:spcAft>
                <a:spcPts val="1000"/>
              </a:spcAft>
              <a:defRPr sz="2000"/>
            </a:pPr>
            <a:r>
              <a:t>• 用户反馈和修正是获取最佳输出的关键</a:t>
            </a:r>
          </a:p>
          <a:p>
            <a:pPr>
              <a:spcAft>
                <a:spcPts val="1000"/>
              </a:spcAft>
              <a:defRPr sz="2000"/>
            </a:pPr>
            <a:r>
              <a:t>• 即使优化完成后，仍需持续接收反馈</a:t>
            </a:r>
          </a:p>
          <a:p>
            <a:pPr>
              <a:spcAft>
                <a:spcPts val="1000"/>
              </a:spcAft>
              <a:defRPr sz="2000"/>
            </a:pPr>
            <a:r>
              <a:t>• 根据反馈作出相应调整，使模型更好满足用户需求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75B6"/>
                </a:solidFill>
              </a:defRPr>
            </a:pPr>
            <a:r>
              <a:t>六、优化案例分享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跨国公司 AI 助手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案例背景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问题：qwen-turbo 无法稳定地用英文回答英文问题</a:t>
            </a:r>
          </a:p>
          <a:p>
            <a:pPr>
              <a:spcAft>
                <a:spcPts val="1000"/>
              </a:spcAft>
              <a:defRPr sz="2000"/>
            </a:pPr>
            <a:r>
              <a:t>• 场景：跨国公司 HR AI 助手</a:t>
            </a:r>
          </a:p>
          <a:p>
            <a:pPr>
              <a:spcAft>
                <a:spcPts val="1000"/>
              </a:spcAft>
              <a:defRPr sz="2000"/>
            </a:pPr>
            <a:r>
              <a:t>• 任务：解答公司政策、考勤制度、年假等问题</a:t>
            </a:r>
          </a:p>
          <a:p>
            <a:pPr>
              <a:spcAft>
                <a:spcPts val="1000"/>
              </a:spcAft>
              <a:defRPr sz="2000"/>
            </a:pPr>
            <a:r>
              <a:t>• 挑战：需要稳定输出多语言内容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优化要点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1. 将语言替换为语种</a:t>
            </a:r>
          </a:p>
          <a:p>
            <a:pPr>
              <a:spcAft>
                <a:spcPts val="1000"/>
              </a:spcAft>
              <a:defRPr sz="2000"/>
            </a:pPr>
            <a:r>
              <a:t>•    语言有歧义（书面/口头 vs 英语/法语）</a:t>
            </a:r>
          </a:p>
          <a:p>
            <a:pPr>
              <a:spcAft>
                <a:spcPts val="1000"/>
              </a:spcAft>
              <a:defRPr sz="2000"/>
            </a:pPr>
            <a:r>
              <a:t>•    语种没有这个歧义</a:t>
            </a:r>
          </a:p>
          <a:p>
            <a:pPr>
              <a:spcAft>
                <a:spcPts val="1000"/>
              </a:spcAft>
              <a:defRPr sz="2000"/>
            </a:pPr>
            <a:r>
              <a:t>• 2. 使用 Prompt 框架重新排版</a:t>
            </a:r>
          </a:p>
          <a:p>
            <a:pPr>
              <a:spcAft>
                <a:spcPts val="1000"/>
              </a:spcAft>
              <a:defRPr sz="2000"/>
            </a:pPr>
            <a:r>
              <a:t>•    原结构较为松散，限制部分内容过于冗余</a:t>
            </a:r>
          </a:p>
          <a:p>
            <a:pPr>
              <a:spcAft>
                <a:spcPts val="1000"/>
              </a:spcAft>
              <a:defRPr sz="2000"/>
            </a:pPr>
            <a:r>
              <a:t>• 3. 使用分隔符标记重要内容块</a:t>
            </a:r>
          </a:p>
          <a:p>
            <a:pPr>
              <a:spcAft>
                <a:spcPts val="1000"/>
              </a:spcAft>
              <a:defRPr sz="2000"/>
            </a:pPr>
            <a:r>
              <a:t>•    documents 部分作为独立内容块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75B6"/>
                </a:solidFill>
              </a:defRPr>
            </a:pPr>
            <a:r>
              <a:t>优化后的 Prompt 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595360" cy="5303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#背景#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你是一位跨国公司的高效的HR AI助手，专门负责解答公司内部关于公司政策解析、考勤答疑、年假管理咨询的问题。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以下为公司政策文档：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======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${documents}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======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#目的#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用户的问题仅限于公司政策解析、考勤答疑、年假管理咨询三类范畴。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当问题在范畴内但知识库未涵盖或不明确时，指引用户联系人力资源部门。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#多语言要求#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- 如果提出的问题不是中文，用问题的中文含义去检索知识库。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- 知识库检索出来的内容在输出时也要转换为问题的语种。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#输出#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1. 仅使用标准 ASCII 字符集输出回答。</a:t>
            </a:r>
          </a:p>
          <a:p>
            <a:pPr>
              <a:spcAft>
                <a:spcPts val="100"/>
              </a:spcAft>
              <a:defRPr sz="1100">
                <a:latin typeface="Courier New"/>
              </a:defRPr>
            </a:pPr>
            <a:r>
              <a:t>2. 输出的内容语种为用户输入的语种。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75B6"/>
                </a:solidFill>
              </a:defRPr>
            </a:pPr>
            <a:r>
              <a:t>课程总结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提示词是与大模型沟通的关键桥梁</a:t>
            </a:r>
          </a:p>
          <a:p>
            <a:pPr>
              <a:spcAft>
                <a:spcPts val="1000"/>
              </a:spcAft>
              <a:defRPr sz="2000"/>
            </a:pPr>
            <a:r>
              <a:t>• 清晰具体的 Prompt 是高质量输出的基础</a:t>
            </a:r>
          </a:p>
          <a:p>
            <a:pPr>
              <a:spcAft>
                <a:spcPts val="1000"/>
              </a:spcAft>
              <a:defRPr sz="2000"/>
            </a:pPr>
            <a:r>
              <a:t>• Prompt 框架帮助系统化构建提示词</a:t>
            </a:r>
          </a:p>
          <a:p>
            <a:pPr>
              <a:spcAft>
                <a:spcPts val="1000"/>
              </a:spcAft>
              <a:defRPr sz="2000"/>
            </a:pPr>
            <a:r>
              <a:t>• 四个优化技巧：样例、步骤、分隔符、引导思考</a:t>
            </a:r>
          </a:p>
          <a:p>
            <a:pPr>
              <a:spcAft>
                <a:spcPts val="1000"/>
              </a:spcAft>
              <a:defRPr sz="2000"/>
            </a:pPr>
            <a:r>
              <a:t>• 持续测试迭代是优化的必经之路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5B6"/>
                </a:solidFill>
              </a:defRPr>
            </a:pPr>
            <a:r>
              <a:t>掌握提示词工程</a:t>
            </a:r>
          </a:p>
          <a:p>
            <a:pPr algn="ctr">
              <a:defRPr sz="3200">
                <a:solidFill>
                  <a:srgbClr val="646464"/>
                </a:solidFill>
              </a:defRPr>
            </a:pPr>
            <a:r>
              <a:t>让AI成为您的得力助手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69696"/>
                </a:solidFill>
              </a:defRPr>
            </a:pPr>
            <a:r>
              <a:t>感谢学习！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